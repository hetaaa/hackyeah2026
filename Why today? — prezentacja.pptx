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webp" ContentType="image/webp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Zacznijcie od pytania, które każdy sobie zadał: czemu dziś czuję się gorzej? Nasza aplikacja odpowiada na nie danymi konkretnej osoby, a nie ogólnymi poradami. Po prawej prawdziwa aplikacja: serce i trzy wzorce, które najczęściej poprzedzały trudne dni tej osoby. Od razu podkreślcie: to prawdziwe dane z badania PMData, nic nie jest wygenerowane.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Zegarki są wszędzie i mierzą bardzo dużo. Ale ludzie otwierają aplikację, widzą wynik snu i nie wiedzą, co z nim zrobić. Ogólne porady pomijają to, że gorsze dni każdego mają inne przyczyny, a przyczyna często siedzi we wczorajszych danych, więc łatwo ją przeoczyć.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why. co rano odpowiada na trzy pytania. Jak dziś prawdopodobnie pójdzie? Co zwykle psuje moje dni? Co łączy moje najlepsze dni? Każda odpowiedź pochodzi z historii tej osoby i porównuje ją tylko z nią samą.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Dwa wejścia: zegarek, który użytkownik już nosi, i dziesięciosekundowa ankieta. Silnik ocenia każdy dzień względem mediany tej konkretnej osoby, szuka prostych wzorców progowych, na przykład snu poniżej sześciu godzin, i zostawia wzorzec tylko wtedy, gdy przejdzie test permutacyjny. Do tego model XGBoost podaje szansę na dobry dzień. Na wyjściu są cztery ekrany, wszystkie prostym językiem.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Zanim pokażemy aplikację, jedna ważna rzecz: nic, co zobaczycie, nie jest wygenerowane ani zmyślone. Demo działa na publicznym zbiorze PMData: prawdziwe dane z zegarków Fitbit i codzienne ankiety samopoczucia od 16 uczestników badania, z listopada 2019 do marca 2020. W aplikacji są cztery z tych osób, razem 477 prawdziwych dni. Wymyśliliśmy tylko imiona i nazwiska person. Daty, pomiary snu, tętna, kroków i odpowiedzi w ankietach są oryginalne. Dane przechodzą przez ten sam adapter, którego użyje docelowa synchronizacja z zegarka.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prawdziwa aplikacja, nagrana na żywo. Pierwszy ekran to poranne podsumowanie: wzorce wokół serca, a pod nimi prognoza. Niżej jest przepis na dobry dzień i ostatnie siedem dni na tle normy użytkownika, z różnicami na pomarańczowo. Dużo pracy włożyliśmy w animacje, żeby aplikacja była spokojna, a nie kliniczna. Kim to prawdziwa osoba z badania PMData: wymyślone są tylko imię i nazwisko, wszystkie dane są oryginalne.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Ankieta to serce systemu: bez ocen dni nie ma wzorców. Dlatego jest szybka i przyjemna. Cztery skale, zawsze z lepszą odpowiedzią po prawej. Zaznaczenie rozciąga się jak kropla, zapis kończy się konfetti, a przycisk pokazuje potem, jak się dziś czujesz, z małą animowaną buźką. Prawdziwą metryką biznesową jest tu retencja i tak na nią pracujemy.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Nigdy nie mówimy po prostu, że sen jest ważny. Każdy wzorzec pokazuje dowody: na przykład sen poniżej sześciu godzin poprzedzał dziesięć z trzynastu trudnych dni. Przepis to strona pozytywna: co łączy najlepsze dni. A kalendarz wyjaśnia każdy pojedynczy dzień: możliwą przyczynę, ankietę i wszystkie sygnały na tle normy tej osoby.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Aplikacja zdrowotna, która podnosi fałszywe alarmy, jest gorsza niż żadna, dlatego sprawdziliśmy silnik na PMData, czyli prawdziwych danych z Fitbita z codziennymi ankietami. Na losowo pomieszanych etykietach znajduje fałszywe wzorce tylko w 4,4 do 5,6 procent przypadków, blisko naszego celu 5 procent. Gdy ukrywamy w danych efekt snu poniżej sześciu godzin, wykrywa go w 72 procentach przebiegów, z właściwym progiem. Wzorce utrzymują się też na samych dniach roboczych. I uczciwie dobieramy słowa: wzorzec to możliwa przyczyna, nigdy diagnoza.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Dystrybucję załatwiają platformy, których ludzie już używają. Jedna aplikacja mobilna czytająca Apple Health i Health Connect obejmuje Apple, Samsunga, Xiaomi, Amazfit i Pixela, czyli według naszego szacunku na danych Canalys 2025 mniej więcej połowę rynku smartwatchy. API w chmurze dokładają Fitbita, Ourę, Polara i Withings. Przychód: aplikacja freemium dla klientów indywidualnych, programy B2B dla pracodawców i ubezpieczycieli oraz analiza dostarczana producentom zegarków pod ich marką, żeby ich dane wreszcie coś znaczyły.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Krótko o nas. Bartłomiej Głuchowicz: backend. Patrycja Kustra: data science, czyli analiza danych i walidacja wzorców. Jakub Błaszczyk: projekt UI/UX i frontend, w tym wszystkie animacje, które widzieliście. Maciej Czaicki: backend i data science. W 24 godziny połączyliśmy te cztery role w jedną działającą aplikację na prawdziwych danych.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 24 godziny zbudowaliśmy pełną pętlę: aplikację mobile-first, backend, sprawdzony silnik wzorców i model prognozy, a wszystko to pokrywa 88 testów automatycznych. Dalej: natywna aplikacja synchronizująca Apple Health i Health Connect, poranne powiadomienia, gdy noc wygląda jak przed Twoimi trudnymi dniami, i prywatność od początku, z hostingiem w UE. Szukamy partnera do pilotażu. Dziękujemy.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background-1-image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background-2-image-1.pn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background-3-image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6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269628"/>
            <a:ext cx="10566400" cy="751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583" dirty="0">
                <a:solidFill>
                  <a:srgbClr val="1A1016"/>
                </a:solidFill>
                <a:latin typeface="Manrope" pitchFamily="34" charset="0"/>
                <a:ea typeface="Manrope" pitchFamily="34" charset="-122"/>
                <a:cs typeface="Manrope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583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2326084"/>
            <a:ext cx="10566400" cy="37191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A1016"/>
                </a:solidFill>
                <a:latin typeface="Manrope" pitchFamily="34" charset="0"/>
                <a:ea typeface="Manrope" pitchFamily="34" charset="-122"/>
                <a:cs typeface="Manrope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background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269628"/>
            <a:ext cx="10566400" cy="751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583" dirty="0">
                <a:solidFill>
                  <a:srgbClr val="F3EDEF"/>
                </a:solidFill>
                <a:latin typeface="Manrope" pitchFamily="34" charset="0"/>
                <a:ea typeface="Manrope" pitchFamily="34" charset="-122"/>
                <a:cs typeface="Manrope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583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2326084"/>
            <a:ext cx="10566400" cy="37191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F3EDEF"/>
                </a:solidFill>
                <a:latin typeface="Manrope" pitchFamily="34" charset="0"/>
                <a:ea typeface="Manrope" pitchFamily="34" charset="-122"/>
                <a:cs typeface="Manrope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background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269628"/>
            <a:ext cx="10566400" cy="751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583" dirty="0">
                <a:solidFill>
                  <a:srgbClr val="F3EDEF"/>
                </a:solidFill>
                <a:latin typeface="Manrope" pitchFamily="34" charset="0"/>
                <a:ea typeface="Manrope" pitchFamily="34" charset="-122"/>
                <a:cs typeface="Manrope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583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2326084"/>
            <a:ext cx="10566400" cy="37191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F3EDEF"/>
                </a:solidFill>
                <a:latin typeface="Manrope" pitchFamily="34" charset="0"/>
                <a:ea typeface="Manrope" pitchFamily="34" charset="-122"/>
                <a:cs typeface="Manrope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background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269628"/>
            <a:ext cx="10566400" cy="751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583" dirty="0">
                <a:solidFill>
                  <a:srgbClr val="F3EDEF"/>
                </a:solidFill>
                <a:latin typeface="Manrope" pitchFamily="34" charset="0"/>
                <a:ea typeface="Manrope" pitchFamily="34" charset="-122"/>
                <a:cs typeface="Manrope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583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2326084"/>
            <a:ext cx="10566400" cy="37191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FAF9F5"/>
                </a:solidFill>
                <a:latin typeface="Manrope" pitchFamily="34" charset="0"/>
                <a:ea typeface="Manrope" pitchFamily="34" charset="-122"/>
                <a:cs typeface="Manrope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269628"/>
            <a:ext cx="10566400" cy="751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583" dirty="0">
                <a:solidFill>
                  <a:srgbClr val="1A1016"/>
                </a:solidFill>
                <a:latin typeface="Manrope" pitchFamily="34" charset="0"/>
                <a:ea typeface="Manrope" pitchFamily="34" charset="-122"/>
                <a:cs typeface="Manrope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583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2326084"/>
            <a:ext cx="10566400" cy="37191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A1016"/>
                </a:solidFill>
                <a:latin typeface="Manrope" pitchFamily="34" charset="0"/>
                <a:ea typeface="Manrope" pitchFamily="34" charset="-122"/>
                <a:cs typeface="Manrope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webp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webp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webp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webp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kran Dziś w why.: serce bije, a wokół pojawiają się trzy osobiste wzorce">    </p:cNvPr>
          <p:cNvPicPr>
            <a:picLocks noChangeAspect="1"/>
          </p:cNvPicPr>
          <p:nvPr/>
        </p:nvPicPr>
        <p:blipFill>
          <a:blip r:embed="rId1"/>
          <a:srcRect l="0" r="0" t="-40" b="-40"/>
          <a:stretch/>
        </p:blipFill>
        <p:spPr>
          <a:xfrm>
            <a:off x="8896350" y="812800"/>
            <a:ext cx="2482850" cy="5232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2800" y="62382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i="1" dirty="0">
                <a:solidFill>
                  <a:srgbClr val="6E696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Prawie wygraliśmy</a:t>
            </a:r>
            <a:r>
              <a:rPr lang="en-US" sz="1200" dirty="0">
                <a:solidFill>
                  <a:srgbClr val="6E696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· HackYeah 2026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12800" y="2387600"/>
            <a:ext cx="1255776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B8410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HACKYEAH 2026 · SPORT &amp; HEALTHCARE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812800" y="4705350"/>
            <a:ext cx="7063740" cy="614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i="1" dirty="0">
                <a:solidFill>
                  <a:srgbClr val="5E5A5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Why Today?</a:t>
            </a:r>
            <a:r>
              <a:rPr lang="en-US" sz="1600" dirty="0">
                <a:solidFill>
                  <a:srgbClr val="5E5A5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 znajduje Twoje osobiste wzorce gorszych i lepszych dni na podstawie zegarka, który już nosisz, i 10-sekundowej ankiety dziennie.</a:t>
            </a:r>
            <a:endParaRPr lang="en-US" sz="1600" dirty="0"/>
          </a:p>
        </p:txBody>
      </p:sp>
      <p:pic>
        <p:nvPicPr>
          <p:cNvPr id="6" name="Image 1" descr="Logo why.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12800" y="1562100"/>
            <a:ext cx="1574800" cy="5715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616200" y="1670050"/>
            <a:ext cx="4064000" cy="365720"/>
          </a:xfrm>
          <a:prstGeom prst="roundRect">
            <a:avLst>
              <a:gd name="adj" fmla="val 50000"/>
            </a:avLst>
          </a:prstGeom>
          <a:solidFill>
            <a:srgbClr val="1E1219"/>
          </a:solidFill>
          <a:ln/>
        </p:spPr>
        <p:txBody>
          <a:bodyPr wrap="square" lIns="68616" tIns="22642" rIns="68616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3EDE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Na prawdziwych danych z badania PMData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812800" y="2851150"/>
            <a:ext cx="12557760" cy="8255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6300"/>
              </a:lnSpc>
              <a:buNone/>
            </a:pPr>
            <a:r>
              <a:rPr lang="en-US" sz="6000" b="1" spc="-250" kern="0" dirty="0">
                <a:solidFill>
                  <a:srgbClr val="1A101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Gorszy dzień?</a:t>
            </a:r>
            <a:endParaRPr lang="en-US" sz="6000" dirty="0"/>
          </a:p>
        </p:txBody>
      </p:sp>
      <p:sp>
        <p:nvSpPr>
          <p:cNvPr id="9" name="Text 5"/>
          <p:cNvSpPr/>
          <p:nvPr/>
        </p:nvSpPr>
        <p:spPr>
          <a:xfrm>
            <a:off x="812800" y="3651250"/>
            <a:ext cx="12557760" cy="8255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6300"/>
              </a:lnSpc>
              <a:buNone/>
            </a:pPr>
            <a:r>
              <a:rPr lang="en-US" sz="6000" spc="-250" kern="0" dirty="0">
                <a:solidFill>
                  <a:srgbClr val="7A757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Sprawdź, dlaczego.</a:t>
            </a:r>
            <a:endParaRPr lang="en-US" sz="6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FF7A3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PROBLEM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80120"/>
            <a:ext cx="10883392" cy="1031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spc="-125" kern="0" dirty="0">
                <a:solidFill>
                  <a:srgbClr val="F3EDE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Zegarek zna Twój sen.</a:t>
            </a:r>
            <a:endParaRPr lang="en-US" sz="3600" dirty="0"/>
          </a:p>
          <a:p>
            <a:pPr algn="l" indent="0" marL="0">
              <a:lnSpc>
                <a:spcPts val="3960"/>
              </a:lnSpc>
              <a:buNone/>
            </a:pPr>
            <a:r>
              <a:rPr lang="en-US" sz="3600" b="1" i="0" spc="-125" kern="0" dirty="0">
                <a:solidFill>
                  <a:srgbClr val="A3979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Nie powie Ci, czemu dziś jest gorzej.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75" y="2883694"/>
            <a:ext cx="3380284" cy="2955131"/>
          </a:xfrm>
          <a:prstGeom prst="roundRect">
            <a:avLst>
              <a:gd name="adj" fmla="val 5909"/>
            </a:avLst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12000"/>
              </a:srgbClr>
            </a:solidFill>
            <a:prstDash val="solid"/>
          </a:ln>
          <a:effectLst>
            <a:outerShdw sx="100000" sy="100000" kx="0" ky="0" algn="bl" rotWithShape="0" blurRad="406400" dist="152400" dir="5400000">
              <a:srgbClr val="000000">
                <a:alpha val="25000"/>
              </a:srgbClr>
            </a:outerShdw>
          </a:effectLst>
        </p:spPr>
      </p:sp>
      <p:pic>
        <p:nvPicPr>
          <p:cNvPr id="5" name="Image 0" descr="Char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23950" y="3191669"/>
            <a:ext cx="304800" cy="304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23950" y="3623469"/>
            <a:ext cx="2847264" cy="667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30"/>
              </a:lnSpc>
              <a:buNone/>
            </a:pPr>
            <a:r>
              <a:rPr lang="en-US" sz="2200" b="1" spc="-50" kern="0" dirty="0">
                <a:solidFill>
                  <a:srgbClr val="F3EDE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Liczby, nie odpowiedzi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123950" y="4393009"/>
            <a:ext cx="2847264" cy="8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CFC5C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Wyniki snu i kroki się zbierają. Nic nie łączy ich z tym, jak się czujesz.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405809" y="2883694"/>
            <a:ext cx="3380333" cy="2955131"/>
          </a:xfrm>
          <a:prstGeom prst="roundRect">
            <a:avLst>
              <a:gd name="adj" fmla="val 5909"/>
            </a:avLst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12000"/>
              </a:srgbClr>
            </a:solidFill>
            <a:prstDash val="solid"/>
          </a:ln>
          <a:effectLst>
            <a:outerShdw sx="100000" sy="100000" kx="0" ky="0" algn="bl" rotWithShape="0" blurRad="406400" dist="152400" dir="5400000">
              <a:srgbClr val="000000">
                <a:alpha val="25000"/>
              </a:srgbClr>
            </a:outerShdw>
          </a:effectLst>
        </p:spPr>
      </p:sp>
      <p:pic>
        <p:nvPicPr>
          <p:cNvPr id="9" name="Image 1" descr="Users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713784" y="3191669"/>
            <a:ext cx="304800" cy="3048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713784" y="3623469"/>
            <a:ext cx="2847315" cy="3466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30"/>
              </a:lnSpc>
              <a:buNone/>
            </a:pPr>
            <a:r>
              <a:rPr lang="en-US" sz="2200" b="1" spc="-50" kern="0" dirty="0">
                <a:solidFill>
                  <a:srgbClr val="F3EDE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Średnie, nie Ty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4713784" y="4071739"/>
            <a:ext cx="2847315" cy="8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CFC5C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„Śpij 8 godzin” to rada dla wszystkich. Twoje gorsze dni mają własne przyczyny.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7995692" y="2883694"/>
            <a:ext cx="3380333" cy="2955131"/>
          </a:xfrm>
          <a:prstGeom prst="roundRect">
            <a:avLst>
              <a:gd name="adj" fmla="val 5909"/>
            </a:avLst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12000"/>
              </a:srgbClr>
            </a:solidFill>
            <a:prstDash val="solid"/>
          </a:ln>
          <a:effectLst>
            <a:outerShdw sx="100000" sy="100000" kx="0" ky="0" algn="bl" rotWithShape="0" blurRad="406400" dist="152400" dir="5400000">
              <a:srgbClr val="000000">
                <a:alpha val="25000"/>
              </a:srgbClr>
            </a:outerShdw>
          </a:effectLst>
        </p:spPr>
      </p:sp>
      <p:pic>
        <p:nvPicPr>
          <p:cNvPr id="13" name="Image 2" descr="Clock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303667" y="3191669"/>
            <a:ext cx="304800" cy="3048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303667" y="3623469"/>
            <a:ext cx="2847315" cy="667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30"/>
              </a:lnSpc>
              <a:buNone/>
            </a:pPr>
            <a:r>
              <a:rPr lang="en-US" sz="2200" b="1" spc="-50" kern="0" dirty="0">
                <a:solidFill>
                  <a:srgbClr val="F3EDE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Przyczyna była wczoraj</a:t>
            </a:r>
            <a:endParaRPr lang="en-US" sz="2200" dirty="0"/>
          </a:p>
        </p:txBody>
      </p:sp>
      <p:sp>
        <p:nvSpPr>
          <p:cNvPr id="15" name="Text 10"/>
          <p:cNvSpPr/>
          <p:nvPr/>
        </p:nvSpPr>
        <p:spPr>
          <a:xfrm>
            <a:off x="8303667" y="4393009"/>
            <a:ext cx="2847315" cy="1163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CFC5C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Krótka noc albo dzień bez ruchu odbijają się na samopoczuciu następnego ranka.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3A7A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kran Dziś w why.: trzy osobiste wzorce wokół ilustracji serca i karta z prognozą">    </p:cNvPr>
          <p:cNvPicPr>
            <a:picLocks noChangeAspect="1"/>
          </p:cNvPicPr>
          <p:nvPr/>
        </p:nvPicPr>
        <p:blipFill>
          <a:blip r:embed="rId1"/>
          <a:srcRect l="0" r="0" t="-40" b="-40"/>
          <a:stretch/>
        </p:blipFill>
        <p:spPr>
          <a:xfrm>
            <a:off x="8896350" y="812800"/>
            <a:ext cx="2482850" cy="5232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696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03 · Zrzut z aplikacji na prawdziwych danych z PMData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12800" y="345480"/>
            <a:ext cx="1255776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B8410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ROZWIĄZANIE</a:t>
            </a:r>
            <a:endParaRPr lang="en-US" sz="1200" dirty="0"/>
          </a:p>
        </p:txBody>
      </p:sp>
      <p:sp>
        <p:nvSpPr>
          <p:cNvPr id="5" name="Text 2"/>
          <p:cNvSpPr/>
          <p:nvPr>
            <p:ph type="title"/>
          </p:nvPr>
        </p:nvSpPr>
        <p:spPr>
          <a:xfrm>
            <a:off x="812800" y="812800"/>
            <a:ext cx="12557760" cy="1031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1" spc="-125" kern="0" dirty="0">
                <a:solidFill>
                  <a:srgbClr val="1A101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Why Today?</a:t>
            </a:r>
            <a:r>
              <a:rPr lang="en-US" sz="3600" b="1" i="0" spc="-125" kern="0" dirty="0">
                <a:solidFill>
                  <a:srgbClr val="1A101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zamienia Twoje dni</a:t>
            </a:r>
            <a:endParaRPr lang="en-US" sz="3600" dirty="0"/>
          </a:p>
          <a:p>
            <a:pPr algn="l" indent="0" marL="0">
              <a:lnSpc>
                <a:spcPts val="3960"/>
              </a:lnSpc>
              <a:buNone/>
            </a:pPr>
            <a:r>
              <a:rPr lang="en-US" sz="3600" b="1" i="0" spc="-125" kern="0" dirty="0">
                <a:solidFill>
                  <a:srgbClr val="7A757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 osobiste odpowiedzi.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908298" y="2653060"/>
            <a:ext cx="508000" cy="508000"/>
          </a:xfrm>
          <a:prstGeom prst="roundRect">
            <a:avLst>
              <a:gd name="adj" fmla="val 50000"/>
            </a:avLst>
          </a:prstGeom>
          <a:solidFill>
            <a:srgbClr val="FF6A1A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E121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619498" y="2653060"/>
            <a:ext cx="11825224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spc="-50" kern="0" dirty="0">
                <a:solidFill>
                  <a:srgbClr val="1A101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Poranna prognoza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619498" y="3027710"/>
            <a:ext cx="11825224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5E5A5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Szansa na dobry dzień na podstawie ostatniej nocy i wczoraj.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08298" y="3542060"/>
            <a:ext cx="508000" cy="508000"/>
          </a:xfrm>
          <a:prstGeom prst="roundRect">
            <a:avLst>
              <a:gd name="adj" fmla="val 50000"/>
            </a:avLst>
          </a:prstGeom>
          <a:solidFill>
            <a:srgbClr val="FF6A1A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E121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02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619498" y="3542060"/>
            <a:ext cx="11825224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spc="-50" kern="0" dirty="0">
                <a:solidFill>
                  <a:srgbClr val="1A101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 psuje Twoje dni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1619498" y="3910360"/>
            <a:ext cx="11825224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5E5A5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Twoje wzorce gorszych dni, np. „sen poniżej 6 h: 10 z 13 dni było trudnych”.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908298" y="4424710"/>
            <a:ext cx="508000" cy="508000"/>
          </a:xfrm>
          <a:prstGeom prst="roundRect">
            <a:avLst>
              <a:gd name="adj" fmla="val 50000"/>
            </a:avLst>
          </a:prstGeom>
          <a:solidFill>
            <a:srgbClr val="FF6A1A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E121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03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619498" y="4424710"/>
            <a:ext cx="11825224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spc="-50" kern="0" dirty="0">
                <a:solidFill>
                  <a:srgbClr val="1A101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Przepis na dobry dzień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1619498" y="4799360"/>
            <a:ext cx="11825224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5E5A5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 łączy Twoje najlepsze dni, w formie prostych celów.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6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75"/>
              </a:lnSpc>
              <a:buNone/>
            </a:pPr>
            <a:r>
              <a:rPr lang="en-US" sz="1196" b="1" spc="200" kern="0" dirty="0">
                <a:solidFill>
                  <a:srgbClr val="B8410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JAK TO DZIAŁA</a:t>
            </a:r>
            <a:endParaRPr lang="en-US" sz="1196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77888"/>
            <a:ext cx="10883392" cy="5229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23"/>
              </a:lnSpc>
              <a:buNone/>
            </a:pPr>
            <a:r>
              <a:rPr lang="en-US" sz="3566" b="1" i="0" spc="-125" kern="0" dirty="0">
                <a:solidFill>
                  <a:srgbClr val="1A101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Od danych do osobistej odpowiedzi.</a:t>
            </a:r>
            <a:endParaRPr lang="en-US" sz="3566" dirty="0"/>
          </a:p>
        </p:txBody>
      </p:sp>
      <p:sp>
        <p:nvSpPr>
          <p:cNvPr id="4" name="Shape 2"/>
          <p:cNvSpPr/>
          <p:nvPr/>
        </p:nvSpPr>
        <p:spPr>
          <a:xfrm>
            <a:off x="819150" y="2270820"/>
            <a:ext cx="2654300" cy="1399480"/>
          </a:xfrm>
          <a:prstGeom prst="roundRect">
            <a:avLst>
              <a:gd name="adj" fmla="val 12251"/>
            </a:avLst>
          </a:prstGeom>
          <a:solidFill>
            <a:srgbClr val="FFFFFF"/>
          </a:solidFill>
          <a:ln w="12700">
            <a:solidFill>
              <a:srgbClr val="ECE6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4100" y="2480370"/>
            <a:ext cx="2249932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spc="-50" kern="0" dirty="0">
                <a:solidFill>
                  <a:srgbClr val="1A101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Dane z zegarka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54100" y="2891830"/>
            <a:ext cx="2249932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5E5A5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Sen i jego fazy, tętno, kroki, aktywność.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19150" y="3835400"/>
            <a:ext cx="2654300" cy="2019201"/>
          </a:xfrm>
          <a:prstGeom prst="roundRect">
            <a:avLst>
              <a:gd name="adj" fmla="val 8491"/>
            </a:avLst>
          </a:prstGeom>
          <a:solidFill>
            <a:srgbClr val="FFFFFF"/>
          </a:solidFill>
          <a:ln w="12700">
            <a:solidFill>
              <a:srgbClr val="ECE6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4100" y="4044950"/>
            <a:ext cx="2249932" cy="69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spc="-50" kern="0" dirty="0">
                <a:solidFill>
                  <a:srgbClr val="1A101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Codzienna ankieta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54100" y="4791670"/>
            <a:ext cx="2249932" cy="8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5E5A5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Nastrój, zmęczenie, jakość snu, stres. Ok. 10 sekund.</a:t>
            </a:r>
            <a:endParaRPr lang="en-US" sz="1600" dirty="0"/>
          </a:p>
        </p:txBody>
      </p:sp>
      <p:pic>
        <p:nvPicPr>
          <p:cNvPr id="10" name="Image 0" descr="arrow-righ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32200" y="3948410"/>
            <a:ext cx="406400" cy="22860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4191000" y="2470200"/>
            <a:ext cx="3810000" cy="3185021"/>
          </a:xfrm>
          <a:prstGeom prst="roundRect">
            <a:avLst>
              <a:gd name="adj" fmla="val 5582"/>
            </a:avLst>
          </a:prstGeom>
          <a:solidFill>
            <a:srgbClr val="1E1219"/>
          </a:solidFill>
          <a:ln/>
        </p:spPr>
      </p:sp>
      <p:pic>
        <p:nvPicPr>
          <p:cNvPr id="12" name="Image 1" descr="Lightbulb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495800" y="2775000"/>
            <a:ext cx="279400" cy="2794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495800" y="3181400"/>
            <a:ext cx="3296412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spc="-50" kern="0" dirty="0">
                <a:solidFill>
                  <a:srgbClr val="F3EDE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Osobisty silnik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4553458" y="3643660"/>
            <a:ext cx="3231134" cy="1732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6342" indent="-1963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CFC5C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Dni oceniane względem Twojej mediany</a:t>
            </a:r>
            <a:endParaRPr lang="en-US" sz="1600" dirty="0"/>
          </a:p>
          <a:p>
            <a:pPr algn="l" marL="196342" indent="-1963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CFC5C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Wzorce progowe zostają tylko przy p ≤ 0,05 w teście permutacyjnym</a:t>
            </a:r>
            <a:endParaRPr lang="en-US" sz="1600" dirty="0"/>
          </a:p>
          <a:p>
            <a:pPr algn="l" marL="196342" indent="-1963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CFC5C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Prognoza dnia z XGBoost</a:t>
            </a:r>
            <a:endParaRPr lang="en-US" sz="1600" dirty="0"/>
          </a:p>
        </p:txBody>
      </p:sp>
      <p:pic>
        <p:nvPicPr>
          <p:cNvPr id="15" name="Image 2" descr="arrow-right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153400" y="3948410"/>
            <a:ext cx="406400" cy="2286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712200" y="2731790"/>
            <a:ext cx="2667000" cy="589260"/>
          </a:xfrm>
          <a:prstGeom prst="roundRect">
            <a:avLst>
              <a:gd name="adj" fmla="val 21552"/>
            </a:avLst>
          </a:prstGeom>
          <a:solidFill>
            <a:srgbClr val="FFE3D4"/>
          </a:solidFill>
          <a:ln/>
        </p:spPr>
        <p:txBody>
          <a:bodyPr wrap="square" lIns="140603" tIns="115203" rIns="71261" bIns="89803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A101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Poranna prognoza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8712200" y="3422650"/>
            <a:ext cx="2667000" cy="589260"/>
          </a:xfrm>
          <a:prstGeom prst="roundRect">
            <a:avLst>
              <a:gd name="adj" fmla="val 21552"/>
            </a:avLst>
          </a:prstGeom>
          <a:solidFill>
            <a:srgbClr val="FFE3D4"/>
          </a:solidFill>
          <a:ln/>
        </p:spPr>
        <p:txBody>
          <a:bodyPr wrap="square" lIns="140603" tIns="115203" rIns="71261" bIns="89803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A101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Wzorce gorszych dni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712200" y="4113510"/>
            <a:ext cx="2667000" cy="589260"/>
          </a:xfrm>
          <a:prstGeom prst="roundRect">
            <a:avLst>
              <a:gd name="adj" fmla="val 21552"/>
            </a:avLst>
          </a:prstGeom>
          <a:solidFill>
            <a:srgbClr val="E8DDF8"/>
          </a:solidFill>
          <a:ln/>
        </p:spPr>
        <p:txBody>
          <a:bodyPr wrap="square" lIns="140603" tIns="115203" rIns="71261" bIns="89803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A101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Przepis na dobry dzień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8712200" y="4804370"/>
            <a:ext cx="2667000" cy="589260"/>
          </a:xfrm>
          <a:prstGeom prst="roundRect">
            <a:avLst>
              <a:gd name="adj" fmla="val 21552"/>
            </a:avLst>
          </a:prstGeom>
          <a:solidFill>
            <a:srgbClr val="E8DDF8"/>
          </a:solidFill>
          <a:ln/>
        </p:spPr>
        <p:txBody>
          <a:bodyPr wrap="square" lIns="140603" tIns="115203" rIns="71261" bIns="89803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A101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Kalendarz dni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812800" y="6238280"/>
            <a:ext cx="26162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696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5000"/>
          </a:blip>
          <a:srcRect l="0" r="0" t="0" b="0"/>
          <a:stretch/>
        </p:blipFill>
        <p:spPr>
          <a:xfrm>
            <a:off x="8128000" y="254000"/>
            <a:ext cx="4064000" cy="4064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2800" y="6238280"/>
            <a:ext cx="9156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3A7A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Źródło: PMData, publiczny zbiór danych badawczych (Simula, 2020), 16 uczestników.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3A7A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05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FF7A3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PRAWDZIWE DANE</a:t>
            </a:r>
            <a:endParaRPr lang="en-US" sz="1200" dirty="0"/>
          </a:p>
        </p:txBody>
      </p:sp>
      <p:sp>
        <p:nvSpPr>
          <p:cNvPr id="6" name="Text 3"/>
          <p:cNvSpPr/>
          <p:nvPr>
            <p:ph type="title"/>
          </p:nvPr>
        </p:nvSpPr>
        <p:spPr>
          <a:xfrm>
            <a:off x="812800" y="128270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spc="-125" kern="0" dirty="0">
                <a:solidFill>
                  <a:srgbClr val="F3EDE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Nic tu nie jest wymyślone.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812800" y="2038350"/>
            <a:ext cx="10883392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CFC5C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Każdy ekran w demo to prawdziwa osoba z badania naukowego PMData.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812800" y="2587625"/>
            <a:ext cx="3318917" cy="0"/>
          </a:xfrm>
          <a:prstGeom prst="line">
            <a:avLst/>
          </a:prstGeom>
          <a:noFill/>
          <a:ln w="19050">
            <a:solidFill>
              <a:srgbClr val="FF7A3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12800" y="2749550"/>
            <a:ext cx="3418484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300"/>
              </a:lnSpc>
              <a:buNone/>
            </a:pPr>
            <a:r>
              <a:rPr lang="en-US" sz="6000" b="1" spc="-200" kern="0" dirty="0">
                <a:solidFill>
                  <a:srgbClr val="FF7A3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16</a:t>
            </a:r>
            <a:endParaRPr lang="en-US" sz="6000" dirty="0"/>
          </a:p>
        </p:txBody>
      </p:sp>
      <p:sp>
        <p:nvSpPr>
          <p:cNvPr id="10" name="Text 7"/>
          <p:cNvSpPr/>
          <p:nvPr/>
        </p:nvSpPr>
        <p:spPr>
          <a:xfrm>
            <a:off x="812800" y="3600450"/>
            <a:ext cx="3418484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CFC5C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uczestników publicznego badania PMData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436517" y="2587625"/>
            <a:ext cx="3318917" cy="0"/>
          </a:xfrm>
          <a:prstGeom prst="line">
            <a:avLst/>
          </a:prstGeom>
          <a:noFill/>
          <a:ln w="19050">
            <a:solidFill>
              <a:srgbClr val="FF7A3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36517" y="2749550"/>
            <a:ext cx="3418484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300"/>
              </a:lnSpc>
              <a:buNone/>
            </a:pPr>
            <a:r>
              <a:rPr lang="en-US" sz="6000" b="1" spc="-200" kern="0" dirty="0">
                <a:solidFill>
                  <a:srgbClr val="FF7A3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477</a:t>
            </a:r>
            <a:endParaRPr lang="en-US" sz="6000" dirty="0"/>
          </a:p>
        </p:txBody>
      </p:sp>
      <p:sp>
        <p:nvSpPr>
          <p:cNvPr id="13" name="Text 10"/>
          <p:cNvSpPr/>
          <p:nvPr/>
        </p:nvSpPr>
        <p:spPr>
          <a:xfrm>
            <a:off x="4436517" y="3600450"/>
            <a:ext cx="3418484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CFC5C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prawdziwych dni 4 osób w demo, XI 2019 – III 2020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8060234" y="2587625"/>
            <a:ext cx="3318966" cy="0"/>
          </a:xfrm>
          <a:prstGeom prst="line">
            <a:avLst/>
          </a:prstGeom>
          <a:noFill/>
          <a:ln w="19050">
            <a:solidFill>
              <a:srgbClr val="FF7A3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060234" y="2749550"/>
            <a:ext cx="3418535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300"/>
              </a:lnSpc>
              <a:buNone/>
            </a:pPr>
            <a:r>
              <a:rPr lang="en-US" sz="6000" b="1" spc="-200" kern="0" dirty="0">
                <a:solidFill>
                  <a:srgbClr val="FF6A1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</a:t>
            </a:r>
            <a:endParaRPr lang="en-US" sz="6000" dirty="0"/>
          </a:p>
        </p:txBody>
      </p:sp>
      <p:sp>
        <p:nvSpPr>
          <p:cNvPr id="16" name="Text 13"/>
          <p:cNvSpPr/>
          <p:nvPr/>
        </p:nvSpPr>
        <p:spPr>
          <a:xfrm>
            <a:off x="8060234" y="3600450"/>
            <a:ext cx="3418535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CFC5C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wygenerowanych lub zmyślonych pomiarów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815975" y="4422775"/>
            <a:ext cx="3376067" cy="1384300"/>
          </a:xfrm>
          <a:prstGeom prst="roundRect">
            <a:avLst>
              <a:gd name="adj" fmla="val 10780"/>
            </a:avLst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022350" y="4629150"/>
            <a:ext cx="3052216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spc="-50" kern="0" dirty="0">
                <a:solidFill>
                  <a:srgbClr val="F3EDE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Zegarki Fitbit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1022350" y="5015210"/>
            <a:ext cx="3052216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CFC5C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Sen i jego fazy, tętno, kroki, aktywność.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4401592" y="4422775"/>
            <a:ext cx="3376116" cy="1384300"/>
          </a:xfrm>
          <a:prstGeom prst="roundRect">
            <a:avLst>
              <a:gd name="adj" fmla="val 10780"/>
            </a:avLst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607967" y="4629150"/>
            <a:ext cx="3052267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spc="-50" kern="0" dirty="0">
                <a:solidFill>
                  <a:srgbClr val="F3EDE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Ankiety dzienne</a:t>
            </a:r>
            <a:endParaRPr lang="en-US" sz="2200" dirty="0"/>
          </a:p>
        </p:txBody>
      </p:sp>
      <p:sp>
        <p:nvSpPr>
          <p:cNvPr id="22" name="Text 19"/>
          <p:cNvSpPr/>
          <p:nvPr/>
        </p:nvSpPr>
        <p:spPr>
          <a:xfrm>
            <a:off x="4607967" y="5015210"/>
            <a:ext cx="3052267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CFC5C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Nastrój, zmęczenie, jakość snu, stres.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7990433" y="4425950"/>
            <a:ext cx="3382417" cy="1377950"/>
          </a:xfrm>
          <a:prstGeom prst="roundRect">
            <a:avLst>
              <a:gd name="adj" fmla="val 10599"/>
            </a:avLst>
          </a:prstGeom>
          <a:solidFill>
            <a:srgbClr val="FF7A33">
              <a:alpha val="12000"/>
            </a:srgbClr>
          </a:solidFill>
          <a:ln w="12700">
            <a:solidFill>
              <a:srgbClr val="FF7A3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199983" y="4635500"/>
            <a:ext cx="3052216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spc="-50" kern="0" dirty="0">
                <a:solidFill>
                  <a:srgbClr val="F3EDE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Fikcyjne imiona</a:t>
            </a:r>
            <a:endParaRPr lang="en-US" sz="2200" dirty="0"/>
          </a:p>
        </p:txBody>
      </p:sp>
      <p:sp>
        <p:nvSpPr>
          <p:cNvPr id="25" name="Text 22"/>
          <p:cNvSpPr/>
          <p:nvPr/>
        </p:nvSpPr>
        <p:spPr>
          <a:xfrm>
            <a:off x="8199983" y="5021560"/>
            <a:ext cx="3052216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E4DAD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Tylko imię i nazwisko. Reszta jest oryginalna.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zewijanie ekranu Dziś: karta prognozy, przepis na dobry dzień i ostatnie 7 dni z odliczającymi liczbami">    </p:cNvPr>
          <p:cNvPicPr>
            <a:picLocks noChangeAspect="1"/>
          </p:cNvPicPr>
          <p:nvPr/>
        </p:nvPicPr>
        <p:blipFill>
          <a:blip r:embed="rId1"/>
          <a:srcRect l="0" r="0" t="-40" b="-40"/>
          <a:stretch/>
        </p:blipFill>
        <p:spPr>
          <a:xfrm>
            <a:off x="8896350" y="812800"/>
            <a:ext cx="2482850" cy="5232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696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06 · Nagranie aplikacji na prawdziwych danych z PMData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12800" y="345480"/>
            <a:ext cx="1255776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B8410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APLIKACJA · DZIŚ</a:t>
            </a:r>
            <a:endParaRPr lang="en-US" sz="1200" dirty="0"/>
          </a:p>
        </p:txBody>
      </p:sp>
      <p:sp>
        <p:nvSpPr>
          <p:cNvPr id="5" name="Text 2"/>
          <p:cNvSpPr/>
          <p:nvPr>
            <p:ph type="title"/>
          </p:nvPr>
        </p:nvSpPr>
        <p:spPr>
          <a:xfrm>
            <a:off x="812800" y="812800"/>
            <a:ext cx="12557760" cy="1031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spc="-125" kern="0" dirty="0">
                <a:solidFill>
                  <a:srgbClr val="1A101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Jeden spokojny ekran</a:t>
            </a:r>
            <a:endParaRPr lang="en-US" sz="3600" dirty="0"/>
          </a:p>
          <a:p>
            <a:pPr algn="l" indent="0" marL="0">
              <a:lnSpc>
                <a:spcPts val="3960"/>
              </a:lnSpc>
              <a:buNone/>
            </a:pPr>
            <a:r>
              <a:rPr lang="en-US" sz="3600" b="1" i="0" spc="-125" kern="0" dirty="0">
                <a:solidFill>
                  <a:srgbClr val="7A757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każdego ranka.</a:t>
            </a:r>
            <a:endParaRPr lang="en-US" sz="3600" dirty="0"/>
          </a:p>
        </p:txBody>
      </p:sp>
      <p:sp>
        <p:nvSpPr>
          <p:cNvPr id="6" name="Shape 3"/>
          <p:cNvSpPr/>
          <p:nvPr/>
        </p:nvSpPr>
        <p:spPr>
          <a:xfrm>
            <a:off x="831850" y="2551460"/>
            <a:ext cx="0" cy="660400"/>
          </a:xfrm>
          <a:prstGeom prst="line">
            <a:avLst/>
          </a:prstGeom>
          <a:noFill/>
          <a:ln w="38100">
            <a:solidFill>
              <a:srgbClr val="FF6A1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54100" y="2551460"/>
            <a:ext cx="12309221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spc="-50" kern="0" dirty="0">
                <a:solidFill>
                  <a:srgbClr val="1A101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Wzorce w skrócie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054100" y="2924820"/>
            <a:ext cx="12309221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5E5A5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Trzy najważniejsze, ułożone według siły dowodów.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831850" y="3465860"/>
            <a:ext cx="0" cy="660400"/>
          </a:xfrm>
          <a:prstGeom prst="line">
            <a:avLst/>
          </a:prstGeom>
          <a:noFill/>
          <a:ln w="38100">
            <a:solidFill>
              <a:srgbClr val="FF6A1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54100" y="3465860"/>
            <a:ext cx="12309221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spc="-50" kern="0" dirty="0">
                <a:solidFill>
                  <a:srgbClr val="1A101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Prognoza, nie wyrok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1054100" y="3839220"/>
            <a:ext cx="12309221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5E5A5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Szansa na dobry dzień na podstawie ostatniej nocy i wczoraj.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831850" y="4373910"/>
            <a:ext cx="0" cy="660400"/>
          </a:xfrm>
          <a:prstGeom prst="line">
            <a:avLst/>
          </a:prstGeom>
          <a:noFill/>
          <a:ln w="38100">
            <a:solidFill>
              <a:srgbClr val="FF6A1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54100" y="4373910"/>
            <a:ext cx="12309221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spc="-50" kern="0" dirty="0">
                <a:solidFill>
                  <a:srgbClr val="1A101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Tydzień w kontekście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1054100" y="4747270"/>
            <a:ext cx="12309221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5E5A5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Ostatnie 7 dni na tle Twojej normy, różnice na pomarańczowo.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odzienna ankieta: wybór odpowiedzi rozciągającym się pomarańczowym blobem, zapis z konfetti, potem uśmiechnięta buźka na ekranie Dziś">    </p:cNvPr>
          <p:cNvPicPr>
            <a:picLocks noChangeAspect="1"/>
          </p:cNvPicPr>
          <p:nvPr/>
        </p:nvPicPr>
        <p:blipFill>
          <a:blip r:embed="rId1"/>
          <a:srcRect l="0" r="0" t="-40" b="-40"/>
          <a:stretch/>
        </p:blipFill>
        <p:spPr>
          <a:xfrm>
            <a:off x="8896350" y="558800"/>
            <a:ext cx="2482850" cy="5232400"/>
          </a:xfrm>
          <a:prstGeom prst="roundRect">
            <a:avLst>
              <a:gd name="adj" fmla="val 16368"/>
            </a:avLst>
          </a:prstGeom>
        </p:spPr>
      </p:pic>
      <p:sp>
        <p:nvSpPr>
          <p:cNvPr id="3" name="Text 0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3A7A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07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128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3A7A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Nagranie aplikacji na prawdziwych danych z PMData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812800" y="345480"/>
            <a:ext cx="1255776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FF7A3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APLIKACJA · ANKIETA</a:t>
            </a:r>
            <a:endParaRPr lang="en-US" sz="1200" dirty="0"/>
          </a:p>
        </p:txBody>
      </p:sp>
      <p:sp>
        <p:nvSpPr>
          <p:cNvPr id="6" name="Text 3"/>
          <p:cNvSpPr/>
          <p:nvPr>
            <p:ph type="title"/>
          </p:nvPr>
        </p:nvSpPr>
        <p:spPr>
          <a:xfrm>
            <a:off x="812800" y="812800"/>
            <a:ext cx="12557760" cy="1031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spc="-125" kern="0" dirty="0">
                <a:solidFill>
                  <a:srgbClr val="F3EDE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10 sekund dziennie</a:t>
            </a:r>
            <a:endParaRPr lang="en-US" sz="3600" dirty="0"/>
          </a:p>
          <a:p>
            <a:pPr algn="l" indent="0" marL="0">
              <a:lnSpc>
                <a:spcPts val="3960"/>
              </a:lnSpc>
              <a:buNone/>
            </a:pPr>
            <a:r>
              <a:rPr lang="en-US" sz="3600" b="1" i="0" spc="-125" kern="0" dirty="0">
                <a:solidFill>
                  <a:srgbClr val="A3979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uczy model.</a:t>
            </a:r>
            <a:endParaRPr lang="en-US" sz="3600" dirty="0"/>
          </a:p>
        </p:txBody>
      </p:sp>
      <p:sp>
        <p:nvSpPr>
          <p:cNvPr id="7" name="Shape 4"/>
          <p:cNvSpPr/>
          <p:nvPr/>
        </p:nvSpPr>
        <p:spPr>
          <a:xfrm>
            <a:off x="831850" y="2551460"/>
            <a:ext cx="0" cy="660400"/>
          </a:xfrm>
          <a:prstGeom prst="line">
            <a:avLst/>
          </a:prstGeom>
          <a:noFill/>
          <a:ln w="38100">
            <a:solidFill>
              <a:srgbClr val="FF7A3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54100" y="2551460"/>
            <a:ext cx="12309221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spc="-50" kern="0" dirty="0">
                <a:solidFill>
                  <a:srgbClr val="F3EDE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Cztery krótkie skale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54100" y="2924820"/>
            <a:ext cx="12309221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CFC5C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Nastrój, zmęczenie, jakość snu i stres od 1 do 5, lepiej zawsze po prawej.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831850" y="3465860"/>
            <a:ext cx="0" cy="660400"/>
          </a:xfrm>
          <a:prstGeom prst="line">
            <a:avLst/>
          </a:prstGeom>
          <a:noFill/>
          <a:ln w="38100">
            <a:solidFill>
              <a:srgbClr val="FF7A3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54100" y="3465860"/>
            <a:ext cx="12309221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spc="-50" kern="0" dirty="0">
                <a:solidFill>
                  <a:srgbClr val="F3EDE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Każda odpowiedź ocenia dzień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054100" y="3839220"/>
            <a:ext cx="12309221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CFC5C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Na tej ocenie uczą się wzorce i prognoza.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831850" y="4373910"/>
            <a:ext cx="0" cy="660400"/>
          </a:xfrm>
          <a:prstGeom prst="line">
            <a:avLst/>
          </a:prstGeom>
          <a:noFill/>
          <a:ln w="38100">
            <a:solidFill>
              <a:srgbClr val="FF7A3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54100" y="4373910"/>
            <a:ext cx="12309221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spc="-50" kern="0" dirty="0">
                <a:solidFill>
                  <a:srgbClr val="F3EDE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Nawyk, który cieszy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1054100" y="4747270"/>
            <a:ext cx="12309221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CFC5C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Podsumowanie, buźka i małe świętowanie po każdej ankiecie.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248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70"/>
              </a:lnSpc>
              <a:buNone/>
            </a:pPr>
            <a:r>
              <a:rPr lang="en-US" sz="1121" b="1" spc="200" kern="0" dirty="0">
                <a:solidFill>
                  <a:srgbClr val="B8410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APLIKACJA · WZORCE I KALENDARZ</a:t>
            </a:r>
            <a:endParaRPr lang="en-US" sz="1121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66230"/>
            <a:ext cx="10883392" cy="4955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25"/>
              </a:lnSpc>
              <a:buNone/>
            </a:pPr>
            <a:r>
              <a:rPr lang="en-US" sz="3386" b="1" i="0" spc="-125" kern="0" dirty="0">
                <a:solidFill>
                  <a:srgbClr val="1A101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Każdy wniosek ma swoje dowody.</a:t>
            </a:r>
            <a:endParaRPr lang="en-US" sz="3386" dirty="0"/>
          </a:p>
        </p:txBody>
      </p:sp>
      <p:pic>
        <p:nvPicPr>
          <p:cNvPr id="4" name="Image 0" descr="Ekran wzorców: co psuje Twoje dni i jak często każdy warunek poprzedzał trudny dzień">    </p:cNvPr>
          <p:cNvPicPr>
            <a:picLocks noChangeAspect="1"/>
          </p:cNvPicPr>
          <p:nvPr/>
        </p:nvPicPr>
        <p:blipFill>
          <a:blip r:embed="rId1"/>
          <a:srcRect l="-3559" r="-3559" t="0" b="0"/>
          <a:stretch/>
        </p:blipFill>
        <p:spPr>
          <a:xfrm>
            <a:off x="1764209" y="2244378"/>
            <a:ext cx="1416050" cy="278368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3016" y="5155059"/>
            <a:ext cx="3418484" cy="290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121"/>
              </a:lnSpc>
              <a:buNone/>
            </a:pPr>
            <a:r>
              <a:rPr lang="en-US" sz="1515" b="1" dirty="0">
                <a:solidFill>
                  <a:srgbClr val="1A101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 psuje Twoje dni</a:t>
            </a:r>
            <a:endParaRPr lang="en-US" sz="1515" dirty="0"/>
          </a:p>
        </p:txBody>
      </p:sp>
      <p:sp>
        <p:nvSpPr>
          <p:cNvPr id="6" name="Text 3"/>
          <p:cNvSpPr/>
          <p:nvPr/>
        </p:nvSpPr>
        <p:spPr>
          <a:xfrm>
            <a:off x="763016" y="5445075"/>
            <a:ext cx="3418484" cy="422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85"/>
              </a:lnSpc>
              <a:buNone/>
            </a:pPr>
            <a:r>
              <a:rPr lang="en-US" sz="1133" dirty="0">
                <a:solidFill>
                  <a:srgbClr val="5E5A5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Jak często dany warunek poprzedzał trudny dzień.</a:t>
            </a:r>
            <a:endParaRPr lang="en-US" sz="1133" dirty="0"/>
          </a:p>
        </p:txBody>
      </p:sp>
      <p:pic>
        <p:nvPicPr>
          <p:cNvPr id="7" name="Image 1" descr="Przepis na dobry dzień: trzy rzeczy, które łączą najlepsze dni, każda z oceną siły">    </p:cNvPr>
          <p:cNvPicPr>
            <a:picLocks noChangeAspect="1"/>
          </p:cNvPicPr>
          <p:nvPr/>
        </p:nvPicPr>
        <p:blipFill>
          <a:blip r:embed="rId2"/>
          <a:srcRect l="-3559" r="-3559" t="0" b="0"/>
          <a:stretch/>
        </p:blipFill>
        <p:spPr>
          <a:xfrm>
            <a:off x="5387925" y="2244378"/>
            <a:ext cx="1416050" cy="278368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386733" y="5155059"/>
            <a:ext cx="3418484" cy="290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121"/>
              </a:lnSpc>
              <a:buNone/>
            </a:pPr>
            <a:r>
              <a:rPr lang="en-US" sz="1515" b="1" dirty="0">
                <a:solidFill>
                  <a:srgbClr val="1A101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Przepis na dobry dzień</a:t>
            </a:r>
            <a:endParaRPr lang="en-US" sz="1515" dirty="0"/>
          </a:p>
        </p:txBody>
      </p:sp>
      <p:sp>
        <p:nvSpPr>
          <p:cNvPr id="9" name="Text 5"/>
          <p:cNvSpPr/>
          <p:nvPr/>
        </p:nvSpPr>
        <p:spPr>
          <a:xfrm>
            <a:off x="4181501" y="5445075"/>
            <a:ext cx="3828948" cy="422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96"/>
              </a:lnSpc>
              <a:buNone/>
            </a:pPr>
            <a:r>
              <a:rPr lang="en-US" sz="1140" dirty="0">
                <a:solidFill>
                  <a:srgbClr val="5E5A5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 łączy najlepsze dni i jak silny jest każdy sygnał.</a:t>
            </a:r>
            <a:endParaRPr lang="en-US" sz="1140" dirty="0"/>
          </a:p>
        </p:txBody>
      </p:sp>
      <p:pic>
        <p:nvPicPr>
          <p:cNvPr id="10" name="Image 2" descr="Kalendarz: kliknięcie dnia przesuwa zaznaczenie i pokazuje możliwą przyczynę oraz dane na tle normy">    </p:cNvPr>
          <p:cNvPicPr>
            <a:picLocks noChangeAspect="1"/>
          </p:cNvPicPr>
          <p:nvPr/>
        </p:nvPicPr>
        <p:blipFill>
          <a:blip r:embed="rId3"/>
          <a:srcRect l="-3559" r="-3559" t="0" b="0"/>
          <a:stretch/>
        </p:blipFill>
        <p:spPr>
          <a:xfrm>
            <a:off x="9011692" y="2244378"/>
            <a:ext cx="1416050" cy="2783681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010449" y="5155059"/>
            <a:ext cx="3418535" cy="290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121"/>
              </a:lnSpc>
              <a:buNone/>
            </a:pPr>
            <a:r>
              <a:rPr lang="en-US" sz="1515" b="1" dirty="0">
                <a:solidFill>
                  <a:srgbClr val="1A101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Każdy dzień wyjaśniony</a:t>
            </a:r>
            <a:endParaRPr lang="en-US" sz="1515" dirty="0"/>
          </a:p>
        </p:txBody>
      </p:sp>
      <p:sp>
        <p:nvSpPr>
          <p:cNvPr id="12" name="Text 7"/>
          <p:cNvSpPr/>
          <p:nvPr/>
        </p:nvSpPr>
        <p:spPr>
          <a:xfrm>
            <a:off x="8010449" y="5445075"/>
            <a:ext cx="3418535" cy="422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85"/>
              </a:lnSpc>
              <a:buNone/>
            </a:pPr>
            <a:r>
              <a:rPr lang="en-US" sz="1133" dirty="0">
                <a:solidFill>
                  <a:srgbClr val="5E5A5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Możliwa przyczyna, ankieta i dane na tle Twojej normy.</a:t>
            </a:r>
            <a:endParaRPr lang="en-US" sz="1133" dirty="0"/>
          </a:p>
        </p:txBody>
      </p:sp>
      <p:sp>
        <p:nvSpPr>
          <p:cNvPr id="13" name="Text 8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696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08 · Zrzuty i nagranie na prawdziwych danych z PMData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B89CE6">
                  <a:alpha val="18000"/>
                </a:srgbClr>
              </a:gs>
              <a:gs pos="40000">
                <a:srgbClr val="B89CE6">
                  <a:alpha val="0"/>
                </a:srgbClr>
              </a:gs>
            </a:gsLst>
            <a:path path="circle">
              <a:fillToRect l="4000" t="100000" r="96000" b="0"/>
            </a:path>
          </a:gradFill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3A7A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Walidacja na PMData: prawdziwe dane z Fitbita i codzienne ankiety 12 osób.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3A7A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09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FF7A3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DLACZEGO MOŻNA MU UFAĆ</a:t>
            </a:r>
            <a:endParaRPr lang="en-US" sz="12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812800" y="128270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spc="-125" kern="0" dirty="0">
                <a:solidFill>
                  <a:srgbClr val="F3EDE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Osobiste, uczciwe i sprawdzone.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812800" y="2670175"/>
            <a:ext cx="5283200" cy="0"/>
          </a:xfrm>
          <a:prstGeom prst="line">
            <a:avLst/>
          </a:prstGeom>
          <a:noFill/>
          <a:ln w="19050">
            <a:solidFill>
              <a:srgbClr val="FF7A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12800" y="2832100"/>
            <a:ext cx="5441696" cy="7824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965"/>
              </a:lnSpc>
              <a:buNone/>
            </a:pPr>
            <a:r>
              <a:rPr lang="en-US" sz="5681" b="1" spc="-200" kern="0" dirty="0">
                <a:gradFill rotWithShape="1">
                  <a:gsLst>
                    <a:gs pos="0">
                      <a:srgbClr val="FFC46B"/>
                    </a:gs>
                    <a:gs pos="0">
                      <a:srgbClr val="FF6A1A"/>
                    </a:gs>
                  </a:gsLst>
                  <a:lin ang="5400000" scaled="0"/>
                </a:gradFill>
                <a:latin typeface="Manrope" pitchFamily="34" charset="0"/>
                <a:ea typeface="Manrope" pitchFamily="34" charset="-122"/>
                <a:cs typeface="Manrope" pitchFamily="34" charset="-120"/>
              </a:rPr>
              <a:t>4,4–5,6%</a:t>
            </a:r>
            <a:endParaRPr lang="en-US" sz="5681" dirty="0"/>
          </a:p>
        </p:txBody>
      </p:sp>
      <p:sp>
        <p:nvSpPr>
          <p:cNvPr id="8" name="Text 6"/>
          <p:cNvSpPr/>
          <p:nvPr/>
        </p:nvSpPr>
        <p:spPr>
          <a:xfrm>
            <a:off x="812800" y="3639989"/>
            <a:ext cx="5441696" cy="563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35"/>
              </a:lnSpc>
              <a:buNone/>
            </a:pPr>
            <a:r>
              <a:rPr lang="en-US" sz="1525" dirty="0">
                <a:solidFill>
                  <a:srgbClr val="CFC5C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fałszywych wzorców na losowo pomieszanych danych (cel: 5%)</a:t>
            </a:r>
            <a:endParaRPr lang="en-US" sz="1525" dirty="0"/>
          </a:p>
        </p:txBody>
      </p:sp>
      <p:sp>
        <p:nvSpPr>
          <p:cNvPr id="9" name="Shape 7"/>
          <p:cNvSpPr/>
          <p:nvPr/>
        </p:nvSpPr>
        <p:spPr>
          <a:xfrm>
            <a:off x="6096000" y="2670175"/>
            <a:ext cx="5283200" cy="0"/>
          </a:xfrm>
          <a:prstGeom prst="line">
            <a:avLst/>
          </a:prstGeom>
          <a:noFill/>
          <a:ln w="19050">
            <a:solidFill>
              <a:srgbClr val="FF7A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96000" y="2832100"/>
            <a:ext cx="5441696" cy="7824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965"/>
              </a:lnSpc>
              <a:buNone/>
            </a:pPr>
            <a:r>
              <a:rPr lang="en-US" sz="5681" b="1" spc="-200" kern="0" dirty="0">
                <a:gradFill rotWithShape="1">
                  <a:gsLst>
                    <a:gs pos="0">
                      <a:srgbClr val="FFC46B"/>
                    </a:gs>
                    <a:gs pos="0">
                      <a:srgbClr val="FF6A1A"/>
                    </a:gs>
                  </a:gsLst>
                  <a:lin ang="5400000" scaled="0"/>
                </a:gradFill>
                <a:latin typeface="Manrope" pitchFamily="34" charset="0"/>
                <a:ea typeface="Manrope" pitchFamily="34" charset="-122"/>
                <a:cs typeface="Manrope" pitchFamily="34" charset="-120"/>
              </a:rPr>
              <a:t>72%</a:t>
            </a:r>
            <a:endParaRPr lang="en-US" sz="5681" dirty="0"/>
          </a:p>
        </p:txBody>
      </p:sp>
      <p:sp>
        <p:nvSpPr>
          <p:cNvPr id="11" name="Text 9"/>
          <p:cNvSpPr/>
          <p:nvPr/>
        </p:nvSpPr>
        <p:spPr>
          <a:xfrm>
            <a:off x="6096000" y="3639989"/>
            <a:ext cx="5441696" cy="563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35"/>
              </a:lnSpc>
              <a:buNone/>
            </a:pPr>
            <a:r>
              <a:rPr lang="en-US" sz="1525" dirty="0">
                <a:solidFill>
                  <a:srgbClr val="CFC5C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ukrytych efektów „sen poniżej 6 h” wykrytych z właściwym progiem</a:t>
            </a:r>
            <a:endParaRPr lang="en-US" sz="1525" dirty="0"/>
          </a:p>
        </p:txBody>
      </p:sp>
      <p:sp>
        <p:nvSpPr>
          <p:cNvPr id="12" name="Shape 10"/>
          <p:cNvSpPr/>
          <p:nvPr/>
        </p:nvSpPr>
        <p:spPr>
          <a:xfrm>
            <a:off x="812800" y="4340225"/>
            <a:ext cx="5283200" cy="0"/>
          </a:xfrm>
          <a:prstGeom prst="line">
            <a:avLst/>
          </a:prstGeom>
          <a:noFill/>
          <a:ln w="19050">
            <a:solidFill>
              <a:srgbClr val="FF7A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2800" y="4502150"/>
            <a:ext cx="5441696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300"/>
              </a:lnSpc>
              <a:buNone/>
            </a:pPr>
            <a:r>
              <a:rPr lang="en-US" sz="6000" b="1" spc="-200" kern="0" dirty="0">
                <a:solidFill>
                  <a:srgbClr val="FF6A1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7 / 7</a:t>
            </a:r>
            <a:endParaRPr lang="en-US" sz="6000" dirty="0"/>
          </a:p>
        </p:txBody>
      </p:sp>
      <p:sp>
        <p:nvSpPr>
          <p:cNvPr id="14" name="Text 12"/>
          <p:cNvSpPr/>
          <p:nvPr/>
        </p:nvSpPr>
        <p:spPr>
          <a:xfrm>
            <a:off x="812800" y="5353050"/>
            <a:ext cx="5441696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CFC5C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wzorców utrzymuje się, gdy badamy same dni robocze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096000" y="4340225"/>
            <a:ext cx="5283200" cy="0"/>
          </a:xfrm>
          <a:prstGeom prst="line">
            <a:avLst/>
          </a:prstGeom>
          <a:noFill/>
          <a:ln w="19050">
            <a:solidFill>
              <a:srgbClr val="FF7A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96000" y="4502150"/>
            <a:ext cx="5441696" cy="7824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965"/>
              </a:lnSpc>
              <a:buNone/>
            </a:pPr>
            <a:r>
              <a:rPr lang="en-US" sz="5681" b="1" spc="-200" kern="0" dirty="0">
                <a:solidFill>
                  <a:srgbClr val="FF6A1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~0,1 s</a:t>
            </a:r>
            <a:endParaRPr lang="en-US" sz="5681" dirty="0"/>
          </a:p>
        </p:txBody>
      </p:sp>
      <p:sp>
        <p:nvSpPr>
          <p:cNvPr id="17" name="Text 15"/>
          <p:cNvSpPr/>
          <p:nvPr/>
        </p:nvSpPr>
        <p:spPr>
          <a:xfrm>
            <a:off x="6096000" y="5310039"/>
            <a:ext cx="5441696" cy="563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35"/>
              </a:lnSpc>
              <a:buNone/>
            </a:pPr>
            <a:r>
              <a:rPr lang="en-US" sz="1525" dirty="0">
                <a:solidFill>
                  <a:srgbClr val="CFC5C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na analizę jednej osoby, potem wynik z pamięci do nowych danych</a:t>
            </a:r>
            <a:endParaRPr lang="en-US" sz="15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16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2"/>
              </a:lnSpc>
              <a:buNone/>
            </a:pPr>
            <a:r>
              <a:rPr lang="en-US" sz="1159" b="1" spc="200" kern="0" dirty="0">
                <a:solidFill>
                  <a:srgbClr val="B8410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BIZNES</a:t>
            </a:r>
            <a:endParaRPr lang="en-US" sz="1159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73026"/>
            <a:ext cx="10883392" cy="5114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873"/>
              </a:lnSpc>
              <a:buNone/>
            </a:pPr>
            <a:r>
              <a:rPr lang="en-US" sz="3521" b="1" i="0" spc="-125" kern="0" dirty="0">
                <a:solidFill>
                  <a:srgbClr val="1A101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Jasna droga do klientów i przychodu.</a:t>
            </a:r>
            <a:endParaRPr lang="en-US" sz="3521" dirty="0"/>
          </a:p>
        </p:txBody>
      </p:sp>
      <p:sp>
        <p:nvSpPr>
          <p:cNvPr id="4" name="Shape 2"/>
          <p:cNvSpPr/>
          <p:nvPr/>
        </p:nvSpPr>
        <p:spPr>
          <a:xfrm>
            <a:off x="812800" y="2267099"/>
            <a:ext cx="5435600" cy="3574901"/>
          </a:xfrm>
          <a:prstGeom prst="roundRect">
            <a:avLst>
              <a:gd name="adj" fmla="val 4974"/>
            </a:avLst>
          </a:prstGeom>
          <a:solidFill>
            <a:srgbClr val="1E1219"/>
          </a:solidFill>
          <a:ln/>
        </p:spPr>
      </p:sp>
      <p:sp>
        <p:nvSpPr>
          <p:cNvPr id="5" name="Text 3"/>
          <p:cNvSpPr/>
          <p:nvPr/>
        </p:nvSpPr>
        <p:spPr>
          <a:xfrm>
            <a:off x="1117600" y="2571899"/>
            <a:ext cx="49707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FF7A3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DYSTRYBUCJA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17600" y="2886819"/>
            <a:ext cx="497078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300"/>
              </a:lnSpc>
              <a:buNone/>
            </a:pPr>
            <a:r>
              <a:rPr lang="en-US" sz="6000" b="1" spc="-200" kern="0" dirty="0">
                <a:solidFill>
                  <a:srgbClr val="F3EDE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45–50%*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1117600" y="3788519"/>
            <a:ext cx="4970780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CFC5C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rynku smartwatchy w zasięgu jednej aplikacji mobilnej: Apple Health i Android Health Connect.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17600" y="4459039"/>
            <a:ext cx="4970780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CFC5C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Do tego API w chmurze: Google Health (Fitbit, Pixel), Oura, Polar, Withings.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559550" y="2273449"/>
            <a:ext cx="4813300" cy="1201390"/>
          </a:xfrm>
          <a:prstGeom prst="roundRect">
            <a:avLst>
              <a:gd name="adj" fmla="val 12157"/>
            </a:avLst>
          </a:prstGeom>
          <a:solidFill>
            <a:srgbClr val="FFFFFF"/>
          </a:solidFill>
          <a:ln w="12700">
            <a:solidFill>
              <a:srgbClr val="ECE6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94500" y="2432199"/>
            <a:ext cx="4473702" cy="343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4"/>
              </a:lnSpc>
              <a:buNone/>
            </a:pPr>
            <a:r>
              <a:rPr lang="en-US" sz="2104" b="1" spc="-50" kern="0" dirty="0">
                <a:solidFill>
                  <a:srgbClr val="1A101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Klienci indywidualni</a:t>
            </a:r>
            <a:endParaRPr lang="en-US" sz="2104" dirty="0"/>
          </a:p>
        </p:txBody>
      </p:sp>
      <p:sp>
        <p:nvSpPr>
          <p:cNvPr id="11" name="Text 9"/>
          <p:cNvSpPr/>
          <p:nvPr/>
        </p:nvSpPr>
        <p:spPr>
          <a:xfrm>
            <a:off x="6794500" y="2775942"/>
            <a:ext cx="4473702" cy="5655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35"/>
              </a:lnSpc>
              <a:buNone/>
            </a:pPr>
            <a:r>
              <a:rPr lang="en-US" sz="1525" dirty="0">
                <a:solidFill>
                  <a:srgbClr val="5E5A5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Wzorce za darmo. Prognoza i pełna historia potencjalnie w planie Premium.</a:t>
            </a:r>
            <a:endParaRPr lang="en-US" sz="1525" dirty="0"/>
          </a:p>
        </p:txBody>
      </p:sp>
      <p:sp>
        <p:nvSpPr>
          <p:cNvPr id="12" name="Shape 10"/>
          <p:cNvSpPr/>
          <p:nvPr/>
        </p:nvSpPr>
        <p:spPr>
          <a:xfrm>
            <a:off x="6559550" y="3589139"/>
            <a:ext cx="4813300" cy="930870"/>
          </a:xfrm>
          <a:prstGeom prst="roundRect">
            <a:avLst>
              <a:gd name="adj" fmla="val 15690"/>
            </a:avLst>
          </a:prstGeom>
          <a:solidFill>
            <a:srgbClr val="FFFFFF"/>
          </a:solidFill>
          <a:ln w="12700">
            <a:solidFill>
              <a:srgbClr val="ECE6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94500" y="3747889"/>
            <a:ext cx="4473702" cy="3434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4"/>
              </a:lnSpc>
              <a:buNone/>
            </a:pPr>
            <a:r>
              <a:rPr lang="en-US" sz="2104" b="1" spc="-50" kern="0" dirty="0">
                <a:solidFill>
                  <a:srgbClr val="1A101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Pracodawcy i ubezpieczyciele</a:t>
            </a:r>
            <a:endParaRPr lang="en-US" sz="2104" dirty="0"/>
          </a:p>
        </p:txBody>
      </p:sp>
      <p:sp>
        <p:nvSpPr>
          <p:cNvPr id="14" name="Text 12"/>
          <p:cNvSpPr/>
          <p:nvPr/>
        </p:nvSpPr>
        <p:spPr>
          <a:xfrm>
            <a:off x="6794500" y="4091384"/>
            <a:ext cx="4473702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0"/>
              </a:lnSpc>
              <a:buNone/>
            </a:pPr>
            <a:r>
              <a:rPr lang="en-US" sz="1550" dirty="0">
                <a:solidFill>
                  <a:srgbClr val="5E5A5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Programy dobrostanu i profilaktyki.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6559550" y="4634309"/>
            <a:ext cx="4813300" cy="1201341"/>
          </a:xfrm>
          <a:prstGeom prst="roundRect">
            <a:avLst>
              <a:gd name="adj" fmla="val 12157"/>
            </a:avLst>
          </a:prstGeom>
          <a:solidFill>
            <a:srgbClr val="FFFFFF"/>
          </a:solidFill>
          <a:ln w="12700">
            <a:solidFill>
              <a:srgbClr val="ECE6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94500" y="4793059"/>
            <a:ext cx="4473702" cy="3436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4"/>
              </a:lnSpc>
              <a:buNone/>
            </a:pPr>
            <a:r>
              <a:rPr lang="en-US" sz="2104" b="1" spc="-50" kern="0" dirty="0">
                <a:solidFill>
                  <a:srgbClr val="1A101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Producenci zegarków</a:t>
            </a:r>
            <a:endParaRPr lang="en-US" sz="2104" dirty="0"/>
          </a:p>
        </p:txBody>
      </p:sp>
      <p:sp>
        <p:nvSpPr>
          <p:cNvPr id="17" name="Text 15"/>
          <p:cNvSpPr/>
          <p:nvPr/>
        </p:nvSpPr>
        <p:spPr>
          <a:xfrm>
            <a:off x="6794500" y="5136753"/>
            <a:ext cx="4473702" cy="5655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35"/>
              </a:lnSpc>
              <a:buNone/>
            </a:pPr>
            <a:r>
              <a:rPr lang="en-US" sz="1525" dirty="0">
                <a:solidFill>
                  <a:srgbClr val="5E5A5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Nasza analiza w ich aplikacji, przez API pod ich marką.</a:t>
            </a:r>
            <a:endParaRPr lang="en-US" sz="1525" dirty="0"/>
          </a:p>
        </p:txBody>
      </p:sp>
      <p:sp>
        <p:nvSpPr>
          <p:cNvPr id="18" name="Text 16"/>
          <p:cNvSpPr/>
          <p:nvPr/>
        </p:nvSpPr>
        <p:spPr>
          <a:xfrm>
            <a:off x="812800" y="6238280"/>
            <a:ext cx="9156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696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* Szacunek zespołu na podstawie Canalys 2025, z dostępem pośrednim przez Health Connect.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696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16000"/>
          </a:blip>
          <a:srcRect l="0" r="0" t="0" b="0"/>
          <a:stretch/>
        </p:blipFill>
        <p:spPr>
          <a:xfrm>
            <a:off x="8128000" y="0"/>
            <a:ext cx="4064000" cy="4064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FF7A3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ZESPÓŁ · PRAWIE WYGRALIŚMY</a:t>
            </a:r>
            <a:endParaRPr lang="en-US" sz="1200" dirty="0"/>
          </a:p>
        </p:txBody>
      </p:sp>
      <p:sp>
        <p:nvSpPr>
          <p:cNvPr id="4" name="Text 1"/>
          <p:cNvSpPr/>
          <p:nvPr>
            <p:ph type="title"/>
          </p:nvPr>
        </p:nvSpPr>
        <p:spPr>
          <a:xfrm>
            <a:off x="812800" y="1280120"/>
            <a:ext cx="10883392" cy="1031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spc="-125" kern="0" dirty="0">
                <a:solidFill>
                  <a:srgbClr val="F3EDE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Cztery osoby, 24 godziny,</a:t>
            </a:r>
            <a:endParaRPr lang="en-US" sz="3600" dirty="0"/>
          </a:p>
          <a:p>
            <a:pPr algn="l" indent="0" marL="0">
              <a:lnSpc>
                <a:spcPts val="3960"/>
              </a:lnSpc>
              <a:buNone/>
            </a:pPr>
            <a:r>
              <a:rPr lang="en-US" sz="3600" b="1" i="0" spc="-125" kern="0" dirty="0">
                <a:solidFill>
                  <a:srgbClr val="A3979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jedna aplikacja.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815975" y="2807494"/>
            <a:ext cx="2482850" cy="3031331"/>
          </a:xfrm>
          <a:prstGeom prst="roundRect">
            <a:avLst>
              <a:gd name="adj" fmla="val 7033"/>
            </a:avLst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12000"/>
              </a:srgbClr>
            </a:solidFill>
            <a:prstDash val="solid"/>
          </a:ln>
          <a:effectLst>
            <a:outerShdw sx="100000" sy="100000" kx="0" ky="0" algn="bl" rotWithShape="0" blurRad="406400" dist="152400" dir="5400000">
              <a:srgbClr val="000000">
                <a:alpha val="2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1073150" y="3064669"/>
            <a:ext cx="812800" cy="812800"/>
          </a:xfrm>
          <a:prstGeom prst="roundRect">
            <a:avLst>
              <a:gd name="adj" fmla="val 50000"/>
            </a:avLst>
          </a:prstGeom>
          <a:solidFill>
            <a:srgbClr val="FF6A1A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1E121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BG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73150" y="4055269"/>
            <a:ext cx="1568103" cy="667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30"/>
              </a:lnSpc>
              <a:buNone/>
            </a:pPr>
            <a:r>
              <a:rPr lang="en-US" sz="2200" b="1" spc="-50" kern="0" dirty="0">
                <a:solidFill>
                  <a:srgbClr val="F3EDE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Bartłomiej</a:t>
            </a:r>
            <a:endParaRPr lang="en-US" sz="2200" dirty="0"/>
          </a:p>
          <a:p>
            <a:pPr algn="l" indent="0" marL="0">
              <a:lnSpc>
                <a:spcPts val="2530"/>
              </a:lnSpc>
              <a:buNone/>
            </a:pPr>
            <a:r>
              <a:rPr lang="en-US" sz="2200" b="1" spc="-50" kern="0" dirty="0">
                <a:solidFill>
                  <a:srgbClr val="F3EDE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Głuchowicz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073150" y="4875609"/>
            <a:ext cx="1631553" cy="314920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3EDE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Backend developer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508375" y="2807494"/>
            <a:ext cx="2482850" cy="3031331"/>
          </a:xfrm>
          <a:prstGeom prst="roundRect">
            <a:avLst>
              <a:gd name="adj" fmla="val 7033"/>
            </a:avLst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12000"/>
              </a:srgbClr>
            </a:solidFill>
            <a:prstDash val="solid"/>
          </a:ln>
          <a:effectLst>
            <a:outerShdw sx="100000" sy="100000" kx="0" ky="0" algn="bl" rotWithShape="0" blurRad="406400" dist="152400" dir="5400000">
              <a:srgbClr val="000000">
                <a:alpha val="2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3765550" y="3064669"/>
            <a:ext cx="812800" cy="812800"/>
          </a:xfrm>
          <a:prstGeom prst="roundRect">
            <a:avLst>
              <a:gd name="adj" fmla="val 50000"/>
            </a:avLst>
          </a:prstGeom>
          <a:solidFill>
            <a:srgbClr val="D8C7F1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1E121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PK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3765550" y="4055269"/>
            <a:ext cx="1094432" cy="667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30"/>
              </a:lnSpc>
              <a:buNone/>
            </a:pPr>
            <a:r>
              <a:rPr lang="en-US" sz="2200" b="1" spc="-50" kern="0" dirty="0">
                <a:solidFill>
                  <a:srgbClr val="F3EDE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Patrycja</a:t>
            </a:r>
            <a:endParaRPr lang="en-US" sz="2200" dirty="0"/>
          </a:p>
          <a:p>
            <a:pPr algn="l" indent="0" marL="0">
              <a:lnSpc>
                <a:spcPts val="2530"/>
              </a:lnSpc>
              <a:buNone/>
            </a:pPr>
            <a:r>
              <a:rPr lang="en-US" sz="2200" b="1" spc="-50" kern="0" dirty="0">
                <a:solidFill>
                  <a:srgbClr val="F3EDE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Kustra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3765550" y="4875609"/>
            <a:ext cx="1267073" cy="314920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3EDE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Data scientist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200775" y="2807494"/>
            <a:ext cx="2482850" cy="3031331"/>
          </a:xfrm>
          <a:prstGeom prst="roundRect">
            <a:avLst>
              <a:gd name="adj" fmla="val 7033"/>
            </a:avLst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12000"/>
              </a:srgbClr>
            </a:solidFill>
            <a:prstDash val="solid"/>
          </a:ln>
          <a:effectLst>
            <a:outerShdw sx="100000" sy="100000" kx="0" ky="0" algn="bl" rotWithShape="0" blurRad="406400" dist="152400" dir="5400000">
              <a:srgbClr val="000000">
                <a:alpha val="25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457950" y="3064669"/>
            <a:ext cx="812800" cy="812800"/>
          </a:xfrm>
          <a:prstGeom prst="roundRect">
            <a:avLst>
              <a:gd name="adj" fmla="val 50000"/>
            </a:avLst>
          </a:prstGeom>
          <a:solidFill>
            <a:srgbClr val="D5E7D1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1E121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JB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6457950" y="4055269"/>
            <a:ext cx="1327448" cy="667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30"/>
              </a:lnSpc>
              <a:buNone/>
            </a:pPr>
            <a:r>
              <a:rPr lang="en-US" sz="2200" b="1" spc="-50" kern="0" dirty="0">
                <a:solidFill>
                  <a:srgbClr val="F3EDE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Jakub</a:t>
            </a:r>
            <a:endParaRPr lang="en-US" sz="2200" dirty="0"/>
          </a:p>
          <a:p>
            <a:pPr algn="l" indent="0" marL="0">
              <a:lnSpc>
                <a:spcPts val="2530"/>
              </a:lnSpc>
              <a:buNone/>
            </a:pPr>
            <a:r>
              <a:rPr lang="en-US" sz="2200" b="1" spc="-50" kern="0" dirty="0">
                <a:solidFill>
                  <a:srgbClr val="F3EDE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Błaszczyk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6457950" y="4875609"/>
            <a:ext cx="1344315" cy="314920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3EDE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UI/UX designer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457950" y="5266730"/>
            <a:ext cx="1667818" cy="314920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3EDE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Frontend developer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8893175" y="2807494"/>
            <a:ext cx="2482850" cy="3031331"/>
          </a:xfrm>
          <a:prstGeom prst="roundRect">
            <a:avLst>
              <a:gd name="adj" fmla="val 7033"/>
            </a:avLst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12000"/>
              </a:srgbClr>
            </a:solidFill>
            <a:prstDash val="solid"/>
          </a:ln>
          <a:effectLst>
            <a:outerShdw sx="100000" sy="100000" kx="0" ky="0" algn="bl" rotWithShape="0" blurRad="406400" dist="152400" dir="5400000">
              <a:srgbClr val="000000">
                <a:alpha val="25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9150350" y="3064669"/>
            <a:ext cx="812800" cy="812800"/>
          </a:xfrm>
          <a:prstGeom prst="roundRect">
            <a:avLst>
              <a:gd name="adj" fmla="val 50000"/>
            </a:avLst>
          </a:prstGeom>
          <a:solidFill>
            <a:srgbClr val="C4573A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FFF3E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MC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9150350" y="4055269"/>
            <a:ext cx="963067" cy="667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30"/>
              </a:lnSpc>
              <a:buNone/>
            </a:pPr>
            <a:r>
              <a:rPr lang="en-US" sz="2200" b="1" spc="-50" kern="0" dirty="0">
                <a:solidFill>
                  <a:srgbClr val="F3EDE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Maciej</a:t>
            </a:r>
            <a:endParaRPr lang="en-US" sz="2200" dirty="0"/>
          </a:p>
          <a:p>
            <a:pPr algn="l" indent="0" marL="0">
              <a:lnSpc>
                <a:spcPts val="2530"/>
              </a:lnSpc>
              <a:buNone/>
            </a:pPr>
            <a:r>
              <a:rPr lang="en-US" sz="2200" b="1" spc="-50" kern="0" dirty="0">
                <a:solidFill>
                  <a:srgbClr val="F3EDE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Czaicki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9150350" y="4875609"/>
            <a:ext cx="1631553" cy="314920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3EDE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Backend developer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9150350" y="5266730"/>
            <a:ext cx="1267073" cy="314920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3EDE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Data scientist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3A7A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B8410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 DALEJ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80120"/>
            <a:ext cx="10883392" cy="1031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spc="-125" kern="0" dirty="0">
                <a:solidFill>
                  <a:srgbClr val="1A101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Powstało w 24 h.</a:t>
            </a:r>
            <a:endParaRPr lang="en-US" sz="3600" dirty="0"/>
          </a:p>
          <a:p>
            <a:pPr algn="l" indent="0" marL="0">
              <a:lnSpc>
                <a:spcPts val="3960"/>
              </a:lnSpc>
              <a:buNone/>
            </a:pPr>
            <a:r>
              <a:rPr lang="en-US" sz="3600" b="1" i="0" spc="-125" kern="0" dirty="0">
                <a:solidFill>
                  <a:srgbClr val="7A757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Gotowe na pilotaż.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3246140"/>
            <a:ext cx="5130800" cy="2595860"/>
          </a:xfrm>
          <a:prstGeom prst="roundRect">
            <a:avLst>
              <a:gd name="adj" fmla="val 6849"/>
            </a:avLst>
          </a:prstGeom>
          <a:solidFill>
            <a:srgbClr val="FF6A1A"/>
          </a:solidFill>
          <a:ln/>
          <a:effectLst>
            <a:outerShdw sx="100000" sy="100000" kx="0" ky="0" algn="bl" rotWithShape="0" blurRad="355600" dist="152400" dir="5400000">
              <a:srgbClr val="FF6A1A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117600" y="3550940"/>
            <a:ext cx="4656836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spc="-50" kern="0" dirty="0">
                <a:solidFill>
                  <a:srgbClr val="1E121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Zbudowane na HackYeah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75258" y="4013200"/>
            <a:ext cx="4591558" cy="154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6342" indent="-196342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1E121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Aplikacja mobile-first z dopracowanymi animacjami</a:t>
            </a:r>
            <a:endParaRPr lang="en-US" sz="1600" dirty="0"/>
          </a:p>
          <a:p>
            <a:pPr algn="l" marL="196342" indent="-196342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1E121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Backend FastAPI i silnik wzorców</a:t>
            </a:r>
            <a:endParaRPr lang="en-US" sz="1600" dirty="0"/>
          </a:p>
          <a:p>
            <a:pPr algn="l" marL="196342" indent="-196342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1E121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Prognoza dnia z XGBoost</a:t>
            </a:r>
            <a:endParaRPr lang="en-US" sz="1600" dirty="0"/>
          </a:p>
          <a:p>
            <a:pPr algn="l" marL="196342" indent="-196342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1E121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88 testów automatycznych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248400" y="3246140"/>
            <a:ext cx="5130800" cy="2595860"/>
          </a:xfrm>
          <a:prstGeom prst="roundRect">
            <a:avLst>
              <a:gd name="adj" fmla="val 6849"/>
            </a:avLst>
          </a:prstGeom>
          <a:solidFill>
            <a:srgbClr val="1E1219"/>
          </a:solidFill>
          <a:ln/>
          <a:effectLst>
            <a:outerShdw sx="100000" sy="100000" kx="0" ky="0" algn="bl" rotWithShape="0" blurRad="355600" dist="152400" dir="5400000">
              <a:srgbClr val="1E1219">
                <a:alpha val="2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53200" y="3550940"/>
            <a:ext cx="4656836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spc="-50" kern="0" dirty="0">
                <a:solidFill>
                  <a:srgbClr val="F3EDE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Najbliższe 3 miesiące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589068" y="4013200"/>
            <a:ext cx="4613348" cy="154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18132" indent="-218132">
              <a:lnSpc>
                <a:spcPts val="2400"/>
              </a:lnSpc>
              <a:buSzPct val="100000"/>
              <a:buFontTx/>
              <a:buAutoNum type="arabicPeriod" startAt="1"/>
            </a:pPr>
            <a:r>
              <a:rPr lang="en-US" sz="1600" dirty="0">
                <a:solidFill>
                  <a:srgbClr val="CFC5C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Natywna aplikacja z synchronizacją Apple Health i Health Connect</a:t>
            </a:r>
            <a:endParaRPr lang="en-US" sz="1600" dirty="0"/>
          </a:p>
          <a:p>
            <a:pPr algn="l" marL="218132" indent="-218132">
              <a:lnSpc>
                <a:spcPts val="2400"/>
              </a:lnSpc>
              <a:buSzPct val="100000"/>
              <a:buFontTx/>
              <a:buAutoNum type="arabicPeriod" startAt="1"/>
            </a:pPr>
            <a:r>
              <a:rPr lang="en-US" sz="1600" dirty="0">
                <a:solidFill>
                  <a:srgbClr val="CFC5C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Poranne powiadomienia z ostrzeżeniem</a:t>
            </a:r>
            <a:endParaRPr lang="en-US" sz="1600" dirty="0"/>
          </a:p>
          <a:p>
            <a:pPr algn="l" marL="218132" indent="-218132">
              <a:lnSpc>
                <a:spcPts val="2400"/>
              </a:lnSpc>
              <a:buSzPct val="100000"/>
              <a:buFontTx/>
              <a:buAutoNum type="arabicPeriod" startAt="1"/>
            </a:pPr>
            <a:r>
              <a:rPr lang="en-US" sz="1600" dirty="0">
                <a:solidFill>
                  <a:srgbClr val="CFC5C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Hosting w UE i usuwanie danych jednym kliknięciem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A101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Why Today? · </a:t>
            </a:r>
            <a:r>
              <a:rPr lang="en-US" sz="1200" b="1" i="1" dirty="0">
                <a:solidFill>
                  <a:srgbClr val="1A101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Prawie wygraliśmy</a:t>
            </a:r>
            <a:r>
              <a:rPr lang="en-US" sz="1200" b="1" dirty="0">
                <a:solidFill>
                  <a:srgbClr val="1A101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· jakub1720@gmail.com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696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hy. — prezentacja">
  <a:themeElements>
    <a:clrScheme name="why. — prezentacja">
      <a:dk1>
        <a:srgbClr val="1A1016"/>
      </a:dk1>
      <a:lt1>
        <a:srgbClr val="F6F4F4"/>
      </a:lt1>
      <a:dk2>
        <a:srgbClr val="51494E"/>
      </a:dk2>
      <a:lt2>
        <a:srgbClr val="E0DDDE"/>
      </a:lt2>
      <a:accent1>
        <a:srgbClr val="FF6A1A"/>
      </a:accent1>
      <a:accent2>
        <a:srgbClr val="FF7A33"/>
      </a:accent2>
      <a:accent3>
        <a:srgbClr val="B8410A"/>
      </a:accent3>
      <a:accent4>
        <a:srgbClr val="FFC46B"/>
      </a:accent4>
      <a:accent5>
        <a:srgbClr val="FFE3D4"/>
      </a:accent5>
      <a:accent6>
        <a:srgbClr val="D8C7F1"/>
      </a:accent6>
      <a:hlink>
        <a:srgbClr val="0563C1"/>
      </a:hlink>
      <a:folHlink>
        <a:srgbClr val="954F72"/>
      </a:folHlink>
    </a:clrScheme>
    <a:fontScheme name="why. — prezentacja">
      <a:majorFont>
        <a:latin typeface="Manrop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nrop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why. — prezentacja</dc:title>
  <dc:subject/>
  <dc:creator/>
  <cp:lastModifiedBy/>
  <cp:revision>1</cp:revision>
  <dcterms:created xsi:type="dcterms:W3CDTF">2026-10-04T02:21:05Z</dcterms:created>
  <dcterms:modified xsi:type="dcterms:W3CDTF">2026-10-04T02:21:05Z</dcterms:modified>
</cp:coreProperties>
</file>